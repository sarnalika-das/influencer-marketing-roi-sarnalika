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4" r:id="rId11"/>
    <p:sldId id="264" r:id="rId12"/>
    <p:sldId id="270" r:id="rId13"/>
    <p:sldId id="271" r:id="rId14"/>
    <p:sldId id="265" r:id="rId15"/>
    <p:sldId id="272" r:id="rId16"/>
    <p:sldId id="275" r:id="rId17"/>
    <p:sldId id="267" r:id="rId18"/>
    <p:sldId id="268" r:id="rId19"/>
    <p:sldId id="269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538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3373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731520"/>
            <a:ext cx="2377440" cy="2377440"/>
          </a:xfrm>
          <a:prstGeom prst="ellipse">
            <a:avLst/>
          </a:prstGeom>
          <a:solidFill>
            <a:srgbClr val="E82E4D"/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0" y="457200"/>
            <a:ext cx="1005840" cy="1005840"/>
          </a:xfrm>
          <a:prstGeom prst="ellipse">
            <a:avLst/>
          </a:prstGeom>
          <a:solidFill>
            <a:srgbClr val="451F7A"/>
          </a:solidFill>
          <a:ln/>
        </p:spPr>
      </p:sp>
      <p:sp>
        <p:nvSpPr>
          <p:cNvPr id="5" name="Shape 3"/>
          <p:cNvSpPr/>
          <p:nvPr/>
        </p:nvSpPr>
        <p:spPr>
          <a:xfrm>
            <a:off x="-1280160" y="4937760"/>
            <a:ext cx="3108960" cy="3108960"/>
          </a:xfrm>
          <a:prstGeom prst="ellipse">
            <a:avLst/>
          </a:prstGeom>
          <a:solidFill>
            <a:srgbClr val="13373A"/>
          </a:solidFill>
          <a:ln/>
        </p:spPr>
      </p:sp>
      <p:sp>
        <p:nvSpPr>
          <p:cNvPr id="6" name="Shape 4"/>
          <p:cNvSpPr/>
          <p:nvPr/>
        </p:nvSpPr>
        <p:spPr>
          <a:xfrm>
            <a:off x="-457200" y="5943600"/>
            <a:ext cx="1188720" cy="1188720"/>
          </a:xfrm>
          <a:prstGeom prst="ellipse">
            <a:avLst/>
          </a:prstGeom>
          <a:solidFill>
            <a:srgbClr val="D9B64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103120"/>
            <a:ext cx="9144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Influencer Marketing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ROI Analytics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822960" y="3886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the measurable business value of influencer marketing campaigns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9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platforms, creator tiers, and customer segments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754880"/>
            <a:ext cx="1234440" cy="384048"/>
          </a:xfrm>
          <a:prstGeom prst="roundRect">
            <a:avLst>
              <a:gd name="adj" fmla="val 50000"/>
            </a:avLst>
          </a:prstGeom>
          <a:solidFill>
            <a:srgbClr val="E82E4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754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Datasets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58568" y="4754880"/>
            <a:ext cx="1508760" cy="384048"/>
          </a:xfrm>
          <a:prstGeom prst="roundRect">
            <a:avLst>
              <a:gd name="adj" fmla="val 50000"/>
            </a:avLst>
          </a:prstGeom>
          <a:solidFill>
            <a:srgbClr val="451F7A"/>
          </a:solidFill>
          <a:ln/>
        </p:spPr>
      </p:sp>
      <p:sp>
        <p:nvSpPr>
          <p:cNvPr id="13" name="Text 11"/>
          <p:cNvSpPr/>
          <p:nvPr/>
        </p:nvSpPr>
        <p:spPr>
          <a:xfrm>
            <a:off x="2258568" y="47548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190K+ Records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968496" y="4754880"/>
            <a:ext cx="2606040" cy="384048"/>
          </a:xfrm>
          <a:prstGeom prst="roundRect">
            <a:avLst>
              <a:gd name="adj" fmla="val 50000"/>
            </a:avLst>
          </a:prstGeom>
          <a:solidFill>
            <a:srgbClr val="D9B641"/>
          </a:solidFill>
          <a:ln/>
        </p:spPr>
      </p:sp>
      <p:sp>
        <p:nvSpPr>
          <p:cNvPr id="15" name="Text 13"/>
          <p:cNvSpPr/>
          <p:nvPr/>
        </p:nvSpPr>
        <p:spPr>
          <a:xfrm>
            <a:off x="3968496" y="47548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3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₹352.85M Revenue Analyzed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22960" y="5806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61447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brands are increasing investment in influencer partnerships, but continue to evaluate success using isolated metrics like impressions or follower count. A campaign with millions of impressions may not generate meaningful conversions — while a smaller campaign with an engaged audience can deliver far greater profitability.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306324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D9B6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₹3,528  </a:t>
            </a:r>
            <a:r>
              <a:rPr lang="en-US" sz="1150" dirty="0">
                <a:solidFill>
                  <a:srgbClr val="1B464A"/>
                </a:solidFill>
              </a:rPr>
              <a:t>average order value across 100,000 transactions — the real signal hiding behind vanity metrics like impressions.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3977640"/>
            <a:ext cx="6035040" cy="2148840"/>
          </a:xfrm>
          <a:prstGeom prst="roundRect">
            <a:avLst>
              <a:gd name="adj" fmla="val 3404"/>
            </a:avLst>
          </a:prstGeom>
          <a:solidFill>
            <a:srgbClr val="1B464A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77240" y="418795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4553712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influencer marketing investments translating into measurable, defensible business value — or just visible activity?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903720" y="1536192"/>
            <a:ext cx="73152" cy="722376"/>
          </a:xfrm>
          <a:prstGeom prst="rect">
            <a:avLst/>
          </a:prstGeom>
          <a:solidFill>
            <a:srgbClr val="E82E4D"/>
          </a:solidFill>
          <a:ln/>
        </p:spPr>
      </p:sp>
      <p:sp>
        <p:nvSpPr>
          <p:cNvPr id="14" name="Text 12"/>
          <p:cNvSpPr/>
          <p:nvPr/>
        </p:nvSpPr>
        <p:spPr>
          <a:xfrm>
            <a:off x="7114032" y="1371600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marketing budgets being allocated efficiently across campaigns?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766560" y="2578608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903720" y="2743200"/>
            <a:ext cx="73152" cy="722376"/>
          </a:xfrm>
          <a:prstGeom prst="rect">
            <a:avLst/>
          </a:prstGeom>
          <a:solidFill>
            <a:srgbClr val="451F7A"/>
          </a:solidFill>
          <a:ln/>
        </p:spPr>
      </p:sp>
      <p:sp>
        <p:nvSpPr>
          <p:cNvPr id="17" name="Text 15"/>
          <p:cNvSpPr/>
          <p:nvPr/>
        </p:nvSpPr>
        <p:spPr>
          <a:xfrm>
            <a:off x="7114032" y="2578608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influencers generate the greatest business value?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766560" y="3785616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3950208"/>
            <a:ext cx="73152" cy="722376"/>
          </a:xfrm>
          <a:prstGeom prst="rect">
            <a:avLst/>
          </a:prstGeom>
          <a:solidFill>
            <a:srgbClr val="D9B641"/>
          </a:solidFill>
          <a:ln/>
        </p:spPr>
      </p:sp>
      <p:sp>
        <p:nvSpPr>
          <p:cNvPr id="20" name="Text 18"/>
          <p:cNvSpPr/>
          <p:nvPr/>
        </p:nvSpPr>
        <p:spPr>
          <a:xfrm>
            <a:off x="7114032" y="3785616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larger audience always produce better financial performance?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766560" y="4992624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903720" y="5157216"/>
            <a:ext cx="73152" cy="722376"/>
          </a:xfrm>
          <a:prstGeom prst="rect">
            <a:avLst/>
          </a:prstGeom>
          <a:solidFill>
            <a:srgbClr val="1B464A"/>
          </a:solidFill>
          <a:ln/>
        </p:spPr>
      </p:sp>
      <p:sp>
        <p:nvSpPr>
          <p:cNvPr id="23" name="Text 21"/>
          <p:cNvSpPr/>
          <p:nvPr/>
        </p:nvSpPr>
        <p:spPr>
          <a:xfrm>
            <a:off x="7114032" y="4992624"/>
            <a:ext cx="4480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 segments contribute the highest long-term value?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influencer marketing effectiveness and translate campaign data into strategic, data-driven marketing decisions.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075688"/>
            <a:ext cx="420624" cy="420624"/>
          </a:xfrm>
          <a:prstGeom prst="ellipse">
            <a:avLst/>
          </a:prstGeom>
          <a:solidFill>
            <a:srgbClr val="E82E4D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0756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651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revenue, cost, conversions, and ROI across all 10 campaigns and 60 influencer-campaign pairings.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874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15968" y="2075688"/>
            <a:ext cx="420624" cy="420624"/>
          </a:xfrm>
          <a:prstGeom prst="ellipse">
            <a:avLst/>
          </a:prstGeom>
          <a:solidFill>
            <a:srgbClr val="451F7A"/>
          </a:solidFill>
          <a:ln/>
        </p:spPr>
      </p:sp>
      <p:sp>
        <p:nvSpPr>
          <p:cNvPr id="14" name="Text 12"/>
          <p:cNvSpPr/>
          <p:nvPr/>
        </p:nvSpPr>
        <p:spPr>
          <a:xfrm>
            <a:off x="4315968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20756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Top-Value Campaigns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343400" y="2651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campaigns generating the highest business value, and the factors behind their success.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187452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973568" y="2075688"/>
            <a:ext cx="420624" cy="420624"/>
          </a:xfrm>
          <a:prstGeom prst="ellipse">
            <a:avLst/>
          </a:prstGeom>
          <a:solidFill>
            <a:srgbClr val="D9B641"/>
          </a:solidFill>
          <a:ln/>
        </p:spPr>
      </p:sp>
      <p:sp>
        <p:nvSpPr>
          <p:cNvPr id="19" name="Text 17"/>
          <p:cNvSpPr/>
          <p:nvPr/>
        </p:nvSpPr>
        <p:spPr>
          <a:xfrm>
            <a:off x="7973568" y="2075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49640" y="20756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Effectiveness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01000" y="265176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influencer impact across 3 platforms, 4 tiers, and audience-location match quality.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840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8368" y="4041648"/>
            <a:ext cx="420624" cy="420624"/>
          </a:xfrm>
          <a:prstGeom prst="ellipse">
            <a:avLst/>
          </a:prstGeom>
          <a:solidFill>
            <a:srgbClr val="1B464A"/>
          </a:solidFill>
          <a:ln/>
        </p:spPr>
      </p:sp>
      <p:sp>
        <p:nvSpPr>
          <p:cNvPr id="24" name="Text 22"/>
          <p:cNvSpPr/>
          <p:nvPr/>
        </p:nvSpPr>
        <p:spPr>
          <a:xfrm>
            <a:off x="65836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40416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" y="46177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 90,000 customer demographics and purchasing behaviour to find high-value segments.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114800" y="3840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315968" y="4041648"/>
            <a:ext cx="420624" cy="420624"/>
          </a:xfrm>
          <a:prstGeom prst="ellipse">
            <a:avLst/>
          </a:prstGeom>
          <a:solidFill>
            <a:srgbClr val="E82E4D"/>
          </a:solidFill>
          <a:ln/>
        </p:spPr>
      </p:sp>
      <p:sp>
        <p:nvSpPr>
          <p:cNvPr id="29" name="Text 27"/>
          <p:cNvSpPr/>
          <p:nvPr/>
        </p:nvSpPr>
        <p:spPr>
          <a:xfrm>
            <a:off x="431596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92040" y="40416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343400" y="46177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of the 25 products and 5 categories drive the most revenue.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772400" y="3840480"/>
            <a:ext cx="3520440" cy="1783080"/>
          </a:xfrm>
          <a:prstGeom prst="roundRect">
            <a:avLst>
              <a:gd name="adj" fmla="val 4103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973568" y="4041648"/>
            <a:ext cx="420624" cy="420624"/>
          </a:xfrm>
          <a:prstGeom prst="ellipse">
            <a:avLst/>
          </a:prstGeom>
          <a:solidFill>
            <a:srgbClr val="451F7A"/>
          </a:solidFill>
          <a:ln/>
        </p:spPr>
      </p:sp>
      <p:sp>
        <p:nvSpPr>
          <p:cNvPr id="34" name="Text 32"/>
          <p:cNvSpPr/>
          <p:nvPr/>
        </p:nvSpPr>
        <p:spPr>
          <a:xfrm>
            <a:off x="7973568" y="4041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549640" y="404164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001000" y="4617720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actionable, data-backed guidance mapped to expected business benefit.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Overview — High-Level Approach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interconnected datasets — campaigns, influencers, campaign performance, orders, customer demographics, and products — were integrated into a single analytical workflow, moving from raw data to an executive-ready decision tool.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615184" y="3698748"/>
            <a:ext cx="292608" cy="237744"/>
          </a:xfrm>
          <a:prstGeom prst="rightArrow">
            <a:avLst/>
          </a:prstGeom>
          <a:solidFill>
            <a:srgbClr val="E82E4D"/>
          </a:solidFill>
          <a:ln/>
        </p:spPr>
      </p:sp>
      <p:sp>
        <p:nvSpPr>
          <p:cNvPr id="8" name="Shape 6"/>
          <p:cNvSpPr/>
          <p:nvPr/>
        </p:nvSpPr>
        <p:spPr>
          <a:xfrm>
            <a:off x="667512" y="2423160"/>
            <a:ext cx="1965960" cy="2788920"/>
          </a:xfrm>
          <a:prstGeom prst="roundRect">
            <a:avLst>
              <a:gd name="adj" fmla="val 3721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357884" y="2697480"/>
            <a:ext cx="585216" cy="585216"/>
          </a:xfrm>
          <a:prstGeom prst="ellipse">
            <a:avLst/>
          </a:prstGeom>
          <a:solidFill>
            <a:srgbClr val="1B464A"/>
          </a:solidFill>
          <a:ln/>
        </p:spPr>
      </p:sp>
      <p:sp>
        <p:nvSpPr>
          <p:cNvPr id="10" name="Text 8"/>
          <p:cNvSpPr/>
          <p:nvPr/>
        </p:nvSpPr>
        <p:spPr>
          <a:xfrm>
            <a:off x="1357884" y="2697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77240" y="34290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32104" y="3840480"/>
            <a:ext cx="1636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6 linked datasets (190K+ records) into one relational structure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837176" y="3698748"/>
            <a:ext cx="292608" cy="237744"/>
          </a:xfrm>
          <a:prstGeom prst="rightArrow">
            <a:avLst/>
          </a:prstGeom>
          <a:solidFill>
            <a:srgbClr val="E82E4D"/>
          </a:solidFill>
          <a:ln/>
        </p:spPr>
      </p:sp>
      <p:sp>
        <p:nvSpPr>
          <p:cNvPr id="14" name="Shape 12"/>
          <p:cNvSpPr/>
          <p:nvPr/>
        </p:nvSpPr>
        <p:spPr>
          <a:xfrm>
            <a:off x="2889504" y="2423160"/>
            <a:ext cx="1965960" cy="2788920"/>
          </a:xfrm>
          <a:prstGeom prst="roundRect">
            <a:avLst>
              <a:gd name="adj" fmla="val 3721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79876" y="2697480"/>
            <a:ext cx="585216" cy="585216"/>
          </a:xfrm>
          <a:prstGeom prst="ellipse">
            <a:avLst/>
          </a:prstGeom>
          <a:solidFill>
            <a:srgbClr val="451F7A"/>
          </a:solidFill>
          <a:ln/>
        </p:spPr>
      </p:sp>
      <p:sp>
        <p:nvSpPr>
          <p:cNvPr id="16" name="Text 14"/>
          <p:cNvSpPr/>
          <p:nvPr/>
        </p:nvSpPr>
        <p:spPr>
          <a:xfrm>
            <a:off x="3579876" y="2697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999232" y="34290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&amp; Clean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054096" y="3840480"/>
            <a:ext cx="1636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checks, IQR outlier review, structural-null documentation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59168" y="3698748"/>
            <a:ext cx="292608" cy="237744"/>
          </a:xfrm>
          <a:prstGeom prst="rightArrow">
            <a:avLst/>
          </a:prstGeom>
          <a:solidFill>
            <a:srgbClr val="E82E4D"/>
          </a:solidFill>
          <a:ln/>
        </p:spPr>
      </p:sp>
      <p:sp>
        <p:nvSpPr>
          <p:cNvPr id="20" name="Shape 18"/>
          <p:cNvSpPr/>
          <p:nvPr/>
        </p:nvSpPr>
        <p:spPr>
          <a:xfrm>
            <a:off x="5111496" y="2423160"/>
            <a:ext cx="1965960" cy="2788920"/>
          </a:xfrm>
          <a:prstGeom prst="roundRect">
            <a:avLst>
              <a:gd name="adj" fmla="val 3721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01868" y="2697480"/>
            <a:ext cx="585216" cy="585216"/>
          </a:xfrm>
          <a:prstGeom prst="ellipse">
            <a:avLst/>
          </a:prstGeom>
          <a:solidFill>
            <a:srgbClr val="D9B641"/>
          </a:solidFill>
          <a:ln/>
        </p:spPr>
      </p:sp>
      <p:sp>
        <p:nvSpPr>
          <p:cNvPr id="22" name="Text 20"/>
          <p:cNvSpPr/>
          <p:nvPr/>
        </p:nvSpPr>
        <p:spPr>
          <a:xfrm>
            <a:off x="5801868" y="2697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5221224" y="34290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276088" y="3840480"/>
            <a:ext cx="1636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Univariate, bivariate &amp; correlation analysis; KPI engineering (ROI, CPA)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281160" y="3698748"/>
            <a:ext cx="292608" cy="237744"/>
          </a:xfrm>
          <a:prstGeom prst="rightArrow">
            <a:avLst/>
          </a:prstGeom>
          <a:solidFill>
            <a:srgbClr val="E82E4D"/>
          </a:solidFill>
          <a:ln/>
        </p:spPr>
      </p:sp>
      <p:sp>
        <p:nvSpPr>
          <p:cNvPr id="26" name="Shape 24"/>
          <p:cNvSpPr/>
          <p:nvPr/>
        </p:nvSpPr>
        <p:spPr>
          <a:xfrm>
            <a:off x="7333488" y="2423160"/>
            <a:ext cx="1965960" cy="2788920"/>
          </a:xfrm>
          <a:prstGeom prst="roundRect">
            <a:avLst>
              <a:gd name="adj" fmla="val 3721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23860" y="2697480"/>
            <a:ext cx="585216" cy="585216"/>
          </a:xfrm>
          <a:prstGeom prst="ellipse">
            <a:avLst/>
          </a:prstGeom>
          <a:solidFill>
            <a:srgbClr val="E82E4D"/>
          </a:solidFill>
          <a:ln/>
        </p:spPr>
      </p:sp>
      <p:sp>
        <p:nvSpPr>
          <p:cNvPr id="28" name="Text 26"/>
          <p:cNvSpPr/>
          <p:nvPr/>
        </p:nvSpPr>
        <p:spPr>
          <a:xfrm>
            <a:off x="8023860" y="2697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7443216" y="34290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7498080" y="3840480"/>
            <a:ext cx="1636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Streamlit + Plotly dashboard with filters &amp; drill-downs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555480" y="2423160"/>
            <a:ext cx="1965960" cy="2788920"/>
          </a:xfrm>
          <a:prstGeom prst="roundRect">
            <a:avLst>
              <a:gd name="adj" fmla="val 3721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245852" y="2697480"/>
            <a:ext cx="585216" cy="585216"/>
          </a:xfrm>
          <a:prstGeom prst="ellipse">
            <a:avLst/>
          </a:prstGeom>
          <a:solidFill>
            <a:srgbClr val="1B464A"/>
          </a:solidFill>
          <a:ln/>
        </p:spPr>
      </p:sp>
      <p:sp>
        <p:nvSpPr>
          <p:cNvPr id="33" name="Text 31"/>
          <p:cNvSpPr/>
          <p:nvPr/>
        </p:nvSpPr>
        <p:spPr>
          <a:xfrm>
            <a:off x="10245852" y="2697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9665208" y="3429000"/>
            <a:ext cx="1746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720072" y="3840480"/>
            <a:ext cx="1636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recommendations tied to business impact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7200" y="56235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65960"/>
            <a:ext cx="502920" cy="502920"/>
          </a:xfrm>
          <a:prstGeom prst="ellipse">
            <a:avLst/>
          </a:prstGeom>
          <a:solidFill>
            <a:srgbClr val="E82E4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417320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and analysis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1965960"/>
            <a:ext cx="502920" cy="502920"/>
          </a:xfrm>
          <a:prstGeom prst="ellipse">
            <a:avLst/>
          </a:prstGeom>
          <a:solidFill>
            <a:srgbClr val="451F7A"/>
          </a:solidFill>
          <a:ln/>
        </p:spPr>
      </p:sp>
      <p:sp>
        <p:nvSpPr>
          <p:cNvPr id="13" name="Text 11"/>
          <p:cNvSpPr/>
          <p:nvPr/>
        </p:nvSpPr>
        <p:spPr>
          <a:xfrm>
            <a:off x="43891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74920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&amp; NumPy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validation, KPI calculations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0" y="16916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0" y="1965960"/>
            <a:ext cx="502920" cy="502920"/>
          </a:xfrm>
          <a:prstGeom prst="ellipse">
            <a:avLst/>
          </a:prstGeom>
          <a:solidFill>
            <a:srgbClr val="D9B64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32520" y="19659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&amp; Seaborn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046720" y="265176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visual analysis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886200"/>
            <a:ext cx="502920" cy="502920"/>
          </a:xfrm>
          <a:prstGeom prst="ellipse">
            <a:avLst/>
          </a:prstGeom>
          <a:solidFill>
            <a:srgbClr val="1B464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1732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&amp; Plotly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31520" y="4572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and filters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114800" y="36118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389120" y="3886200"/>
            <a:ext cx="502920" cy="502920"/>
          </a:xfrm>
          <a:prstGeom prst="ellipse">
            <a:avLst/>
          </a:prstGeom>
          <a:solidFill>
            <a:srgbClr val="E82E4D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74920" y="38862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workbooks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389120" y="4572000"/>
            <a:ext cx="2971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datasets — 6 files, 190K+ rows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Features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Marketing ROI Analytics  |  Group 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783080"/>
            <a:ext cx="621792" cy="621792"/>
          </a:xfrm>
          <a:prstGeom prst="ellipse">
            <a:avLst/>
          </a:prstGeom>
          <a:solidFill>
            <a:srgbClr val="1B464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78308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554480" y="1673352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Cards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55080" y="1673352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cost, profit, ROI, conversions, and AOV at a glance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85800" y="3017520"/>
            <a:ext cx="621792" cy="621792"/>
          </a:xfrm>
          <a:prstGeom prst="ellipse">
            <a:avLst/>
          </a:prstGeom>
          <a:solidFill>
            <a:srgbClr val="E82E4D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0175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907792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&amp; Influencer Comparison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907792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campaigns and creators side by side on revenue and efficiency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85800" y="4251960"/>
            <a:ext cx="621792" cy="621792"/>
          </a:xfrm>
          <a:prstGeom prst="ellipse">
            <a:avLst/>
          </a:prstGeom>
          <a:solidFill>
            <a:srgbClr val="451F7A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251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4142232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&amp; Tier Breakdowns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55080" y="4142232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Instagram / TikTok / YouTube and Nano–Mega tier performance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5257800"/>
            <a:ext cx="11247120" cy="1078992"/>
          </a:xfrm>
          <a:prstGeom prst="roundRect">
            <a:avLst>
              <a:gd name="adj" fmla="val 6780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5486400"/>
            <a:ext cx="621792" cy="621792"/>
          </a:xfrm>
          <a:prstGeom prst="ellipse">
            <a:avLst/>
          </a:prstGeom>
          <a:solidFill>
            <a:srgbClr val="D9B641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5486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554480" y="5376672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Filters &amp; Drill-Downs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55080" y="5376672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 by platform, influencer tier, campaign, and product category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/ System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89988" y="2939796"/>
            <a:ext cx="237744" cy="201168"/>
          </a:xfrm>
          <a:prstGeom prst="rightArrow">
            <a:avLst/>
          </a:prstGeom>
          <a:solidFill>
            <a:srgbClr val="E82E4D"/>
          </a:solidFill>
          <a:ln/>
        </p:spPr>
      </p:sp>
      <p:sp>
        <p:nvSpPr>
          <p:cNvPr id="7" name="Shape 5"/>
          <p:cNvSpPr/>
          <p:nvPr/>
        </p:nvSpPr>
        <p:spPr>
          <a:xfrm>
            <a:off x="516636" y="214884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1B464A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08076" y="240487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Excel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08076" y="3474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9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data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082796" y="2939796"/>
            <a:ext cx="237744" cy="201168"/>
          </a:xfrm>
          <a:prstGeom prst="rightArrow">
            <a:avLst/>
          </a:prstGeom>
          <a:solidFill>
            <a:srgbClr val="E82E4D"/>
          </a:solidFill>
          <a:ln/>
        </p:spPr>
      </p:sp>
      <p:sp>
        <p:nvSpPr>
          <p:cNvPr id="11" name="Shape 9"/>
          <p:cNvSpPr/>
          <p:nvPr/>
        </p:nvSpPr>
        <p:spPr>
          <a:xfrm>
            <a:off x="2409444" y="214884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00884" y="240487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00884" y="3474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75604" y="2939796"/>
            <a:ext cx="237744" cy="201168"/>
          </a:xfrm>
          <a:prstGeom prst="rightArrow">
            <a:avLst/>
          </a:prstGeom>
          <a:solidFill>
            <a:srgbClr val="E82E4D"/>
          </a:solidFill>
          <a:ln/>
        </p:spPr>
      </p:sp>
      <p:sp>
        <p:nvSpPr>
          <p:cNvPr id="15" name="Shape 13"/>
          <p:cNvSpPr/>
          <p:nvPr/>
        </p:nvSpPr>
        <p:spPr>
          <a:xfrm>
            <a:off x="4302252" y="214884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393692" y="240487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Engineering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393692" y="3474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868412" y="2939796"/>
            <a:ext cx="237744" cy="201168"/>
          </a:xfrm>
          <a:prstGeom prst="rightArrow">
            <a:avLst/>
          </a:prstGeom>
          <a:solidFill>
            <a:srgbClr val="E82E4D"/>
          </a:solidFill>
          <a:ln/>
        </p:spPr>
      </p:sp>
      <p:sp>
        <p:nvSpPr>
          <p:cNvPr id="19" name="Shape 17"/>
          <p:cNvSpPr/>
          <p:nvPr/>
        </p:nvSpPr>
        <p:spPr>
          <a:xfrm>
            <a:off x="6195060" y="214884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86500" y="240487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86500" y="3474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notebook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761220" y="2939796"/>
            <a:ext cx="237744" cy="201168"/>
          </a:xfrm>
          <a:prstGeom prst="rightArrow">
            <a:avLst/>
          </a:prstGeom>
          <a:solidFill>
            <a:srgbClr val="E82E4D"/>
          </a:solidFill>
          <a:ln/>
        </p:spPr>
      </p:sp>
      <p:sp>
        <p:nvSpPr>
          <p:cNvPr id="23" name="Shape 21"/>
          <p:cNvSpPr/>
          <p:nvPr/>
        </p:nvSpPr>
        <p:spPr>
          <a:xfrm>
            <a:off x="8087868" y="214884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E82E4D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79308" y="240487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179308" y="3474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BE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Plotly + filters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9980676" y="2148840"/>
            <a:ext cx="1691640" cy="1783080"/>
          </a:xfrm>
          <a:prstGeom prst="roundRect">
            <a:avLst>
              <a:gd name="adj" fmla="val 4324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0072116" y="2404872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Report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72116" y="3474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3434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pipeline: source data → validation → engineered KPIs → visual analysis → interactive dashboard → decision-ready recommendations.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1051560" y="4937760"/>
            <a:ext cx="4709160" cy="1371600"/>
          </a:xfrm>
          <a:prstGeom prst="roundRect">
            <a:avLst>
              <a:gd name="adj" fmla="val 5333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280160" y="5074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Data Model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280160" y="54406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 &amp; campaigns → influencer_campaign_performance (60 rows)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influencers, campaigns, customers, products → orders (100,000 rows)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943600" y="4937760"/>
            <a:ext cx="5212080" cy="1371600"/>
          </a:xfrm>
          <a:prstGeom prst="roundRect">
            <a:avLst>
              <a:gd name="adj" fmla="val 5333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72200" y="5074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51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of Analysis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6172200" y="5440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190,115 total records across 6 tables, spanning Jan 2024 – Sep 2025 (21 months of campaign &amp; transaction history)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&amp; Preprocessing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6309360" cy="3931920"/>
          </a:xfrm>
          <a:prstGeom prst="roundRect">
            <a:avLst>
              <a:gd name="adj" fmla="val 1860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6459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Linked Datasets  —  190,115 Records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48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297680" y="2148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394960" y="214884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master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606040"/>
            <a:ext cx="5760720" cy="0"/>
          </a:xfrm>
          <a:prstGeom prst="line">
            <a:avLst/>
          </a:prstGeom>
          <a:noFill/>
          <a:ln w="9525">
            <a:solidFill>
              <a:srgbClr val="D5E6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334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297680" y="26334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394960" y="263347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master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090672"/>
            <a:ext cx="5760720" cy="0"/>
          </a:xfrm>
          <a:prstGeom prst="line">
            <a:avLst/>
          </a:prstGeom>
          <a:noFill/>
          <a:ln w="9525">
            <a:solidFill>
              <a:srgbClr val="D5E6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11810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influencer_campaign_performance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297680" y="3118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394960" y="31181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/ conversions fact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575304"/>
            <a:ext cx="5760720" cy="0"/>
          </a:xfrm>
          <a:prstGeom prst="line">
            <a:avLst/>
          </a:prstGeom>
          <a:noFill/>
          <a:ln w="9525">
            <a:solidFill>
              <a:srgbClr val="D5E6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6027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297680" y="36027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394960" y="36027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fact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4059936"/>
            <a:ext cx="5760720" cy="0"/>
          </a:xfrm>
          <a:prstGeom prst="line">
            <a:avLst/>
          </a:prstGeom>
          <a:noFill/>
          <a:ln w="9525">
            <a:solidFill>
              <a:srgbClr val="D5E6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0873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customer_demographics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297680" y="40873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90,000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394960" y="40873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master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544568"/>
            <a:ext cx="5760720" cy="0"/>
          </a:xfrm>
          <a:prstGeom prst="line">
            <a:avLst/>
          </a:prstGeom>
          <a:noFill/>
          <a:ln w="9525">
            <a:solidFill>
              <a:srgbClr val="D5E6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5720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297680" y="4572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394960" y="45720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master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1520" y="5102352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span: Jan 2024 – Sep 2025 (21 months)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95160" y="1463040"/>
            <a:ext cx="4709160" cy="841248"/>
          </a:xfrm>
          <a:prstGeom prst="roundRect">
            <a:avLst>
              <a:gd name="adj" fmla="val 8696"/>
            </a:avLst>
          </a:prstGeom>
          <a:solidFill>
            <a:srgbClr val="1B464A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223760" y="1536192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4" name="Text 32"/>
          <p:cNvSpPr/>
          <p:nvPr/>
        </p:nvSpPr>
        <p:spPr>
          <a:xfrm>
            <a:off x="8458200" y="1536192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across all 6 tables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995160" y="2450592"/>
            <a:ext cx="4709160" cy="841248"/>
          </a:xfrm>
          <a:prstGeom prst="roundRect">
            <a:avLst>
              <a:gd name="adj" fmla="val 8696"/>
            </a:avLst>
          </a:prstGeom>
          <a:solidFill>
            <a:srgbClr val="451F7A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7223760" y="2523744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7" name="Text 35"/>
          <p:cNvSpPr/>
          <p:nvPr/>
        </p:nvSpPr>
        <p:spPr>
          <a:xfrm>
            <a:off x="8458200" y="2523744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foreign-key references (7/7 checks passed)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995160" y="3438144"/>
            <a:ext cx="4709160" cy="841248"/>
          </a:xfrm>
          <a:prstGeom prst="roundRect">
            <a:avLst>
              <a:gd name="adj" fmla="val 8696"/>
            </a:avLst>
          </a:prstGeom>
          <a:solidFill>
            <a:srgbClr val="E82E4D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223760" y="3511296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40" name="Text 38"/>
          <p:cNvSpPr/>
          <p:nvPr/>
        </p:nvSpPr>
        <p:spPr>
          <a:xfrm>
            <a:off x="8458200" y="3511296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maintained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995160" y="4425696"/>
            <a:ext cx="4709160" cy="841248"/>
          </a:xfrm>
          <a:prstGeom prst="roundRect">
            <a:avLst>
              <a:gd name="adj" fmla="val 8696"/>
            </a:avLst>
          </a:prstGeom>
          <a:solidFill>
            <a:srgbClr val="D9B641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7223760" y="4498848"/>
            <a:ext cx="1188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43" name="Text 41"/>
          <p:cNvSpPr/>
          <p:nvPr/>
        </p:nvSpPr>
        <p:spPr>
          <a:xfrm>
            <a:off x="8458200" y="449884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null field — documented, not an error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995160" y="5458968"/>
            <a:ext cx="4709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(IQR method) were investigated, not blindly removed — e.g. ROI outliers traced to genuinely low-cost Nano/Micro influencers, not data errors.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Quality Checks — Methodology &amp; Findings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6" name="Card 0"/>
          <p:cNvSpPr/>
          <p:nvPr/>
        </p:nvSpPr>
        <p:spPr>
          <a:xfrm>
            <a:off x="457200" y="1391920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7" name="Icon 0"/>
          <p:cNvSpPr/>
          <p:nvPr/>
        </p:nvSpPr>
        <p:spPr>
          <a:xfrm>
            <a:off x="640080" y="1574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82E4D"/>
          </a:solidFill>
          <a:ln/>
        </p:spPr>
      </p:sp>
      <p:sp>
        <p:nvSpPr>
          <p:cNvPr id="8" name="Headline 0"/>
          <p:cNvSpPr/>
          <p:nvPr/>
        </p:nvSpPr>
        <p:spPr>
          <a:xfrm>
            <a:off x="640080" y="2077720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Missing Values</a:t>
            </a:r>
            <a:endParaRPr lang="en-US" sz="1250" dirty="0"/>
          </a:p>
        </p:txBody>
      </p:sp>
      <p:sp>
        <p:nvSpPr>
          <p:cNvPr id="9" name="Body 0"/>
          <p:cNvSpPr/>
          <p:nvPr/>
        </p:nvSpPr>
        <p:spPr>
          <a:xfrm>
            <a:off x="640080" y="2534920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df.isnull().sum() across all 6 tables. 5 of 6 datasets: 0 missing values. Only exception is Main_Product_ID (Campaign Performance) — structurally null, not a defect.</a:t>
            </a:r>
            <a:endParaRPr lang="en-US" sz="950" dirty="0"/>
          </a:p>
        </p:txBody>
      </p:sp>
      <p:sp>
        <p:nvSpPr>
          <p:cNvPr id="10" name="Card 1"/>
          <p:cNvSpPr/>
          <p:nvPr/>
        </p:nvSpPr>
        <p:spPr>
          <a:xfrm>
            <a:off x="4292600" y="1391920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1" name="Icon 1"/>
          <p:cNvSpPr/>
          <p:nvPr/>
        </p:nvSpPr>
        <p:spPr>
          <a:xfrm>
            <a:off x="4475480" y="1574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451F7A"/>
          </a:solidFill>
          <a:ln/>
        </p:spPr>
      </p:sp>
      <p:sp>
        <p:nvSpPr>
          <p:cNvPr id="12" name="Headline 1"/>
          <p:cNvSpPr/>
          <p:nvPr/>
        </p:nvSpPr>
        <p:spPr>
          <a:xfrm>
            <a:off x="4475480" y="2077720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Duplicates &amp; Key Uniqueness</a:t>
            </a:r>
            <a:endParaRPr lang="en-US" sz="1250" dirty="0"/>
          </a:p>
        </p:txBody>
      </p:sp>
      <p:sp>
        <p:nvSpPr>
          <p:cNvPr id="13" name="Body 1"/>
          <p:cNvSpPr/>
          <p:nvPr/>
        </p:nvSpPr>
        <p:spPr>
          <a:xfrm>
            <a:off x="4475480" y="2534920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df.duplicated() plus PK checks on all 5 ID columns and the composite (Influencer, Campaign) key. Result: 0 duplicate rows, 0 duplicate keys anywhere.</a:t>
            </a:r>
            <a:endParaRPr lang="en-US" sz="950" dirty="0"/>
          </a:p>
        </p:txBody>
      </p:sp>
      <p:sp>
        <p:nvSpPr>
          <p:cNvPr id="14" name="Card 2"/>
          <p:cNvSpPr/>
          <p:nvPr/>
        </p:nvSpPr>
        <p:spPr>
          <a:xfrm>
            <a:off x="8128000" y="1391920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5" name="Icon 2"/>
          <p:cNvSpPr/>
          <p:nvPr/>
        </p:nvSpPr>
        <p:spPr>
          <a:xfrm>
            <a:off x="8310880" y="1574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D9B641"/>
          </a:solidFill>
          <a:ln/>
        </p:spPr>
      </p:sp>
      <p:sp>
        <p:nvSpPr>
          <p:cNvPr id="16" name="Headline 2"/>
          <p:cNvSpPr/>
          <p:nvPr/>
        </p:nvSpPr>
        <p:spPr>
          <a:xfrm>
            <a:off x="8310880" y="2077720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Referential Integrity</a:t>
            </a:r>
            <a:endParaRPr lang="en-US" sz="1250" dirty="0"/>
          </a:p>
        </p:txBody>
      </p:sp>
      <p:sp>
        <p:nvSpPr>
          <p:cNvPr id="17" name="Body 2"/>
          <p:cNvSpPr/>
          <p:nvPr/>
        </p:nvSpPr>
        <p:spPr>
          <a:xfrm>
            <a:off x="8310880" y="2534920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foreign key checked against its parent table's primary key across 7 relationships (Orders, Campaign Performance). Result: 7/7 passed, 0 broken references.</a:t>
            </a:r>
            <a:endParaRPr lang="en-US" sz="950" dirty="0"/>
          </a:p>
        </p:txBody>
      </p:sp>
      <p:sp>
        <p:nvSpPr>
          <p:cNvPr id="18" name="Card 3"/>
          <p:cNvSpPr/>
          <p:nvPr/>
        </p:nvSpPr>
        <p:spPr>
          <a:xfrm>
            <a:off x="457200" y="3901808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9" name="Icon 3"/>
          <p:cNvSpPr/>
          <p:nvPr/>
        </p:nvSpPr>
        <p:spPr>
          <a:xfrm>
            <a:off x="640080" y="4084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B464A"/>
          </a:solidFill>
          <a:ln/>
        </p:spPr>
      </p:sp>
      <p:sp>
        <p:nvSpPr>
          <p:cNvPr id="20" name="Headline 3"/>
          <p:cNvSpPr/>
          <p:nvPr/>
        </p:nvSpPr>
        <p:spPr>
          <a:xfrm>
            <a:off x="640080" y="4587608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Data Types, Dates &amp; Business Values</a:t>
            </a:r>
            <a:endParaRPr lang="en-US" sz="1250" dirty="0"/>
          </a:p>
        </p:txBody>
      </p:sp>
      <p:sp>
        <p:nvSpPr>
          <p:cNvPr id="21" name="Body 3"/>
          <p:cNvSpPr/>
          <p:nvPr/>
        </p:nvSpPr>
        <p:spPr>
          <a:xfrm>
            <a:off x="640080" y="5044808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dtype review, Start_Date &gt; End_Date check, zero/negative checks on Price/Budget/Revenue, and Total_Amount reconciliation. Result: 0 issues; amounts reconcile to the cent (1e-12 float noise only).</a:t>
            </a:r>
            <a:endParaRPr lang="en-US" sz="950" dirty="0"/>
          </a:p>
        </p:txBody>
      </p:sp>
      <p:sp>
        <p:nvSpPr>
          <p:cNvPr id="22" name="Card 4"/>
          <p:cNvSpPr/>
          <p:nvPr/>
        </p:nvSpPr>
        <p:spPr>
          <a:xfrm>
            <a:off x="4292600" y="3901808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3" name="Icon 4"/>
          <p:cNvSpPr/>
          <p:nvPr/>
        </p:nvSpPr>
        <p:spPr>
          <a:xfrm>
            <a:off x="4475480" y="4084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82E4D"/>
          </a:solidFill>
          <a:ln/>
        </p:spPr>
      </p:sp>
      <p:sp>
        <p:nvSpPr>
          <p:cNvPr id="24" name="Headline 4"/>
          <p:cNvSpPr/>
          <p:nvPr/>
        </p:nvSpPr>
        <p:spPr>
          <a:xfrm>
            <a:off x="4475480" y="4587608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Categorical Consistency</a:t>
            </a:r>
            <a:endParaRPr lang="en-US" sz="1250" dirty="0"/>
          </a:p>
        </p:txBody>
      </p:sp>
      <p:sp>
        <p:nvSpPr>
          <p:cNvPr id="25" name="Body 4"/>
          <p:cNvSpPr/>
          <p:nvPr/>
        </p:nvSpPr>
        <p:spPr>
          <a:xfrm>
            <a:off x="4475480" y="5044808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unique values inspected per categorical column (Gender, Platform, Tier, Category, Channel, Income_Bracket) for typos/case mismatches. Result: none found — all category sets are clean.</a:t>
            </a:r>
            <a:endParaRPr lang="en-US" sz="950" dirty="0"/>
          </a:p>
        </p:txBody>
      </p:sp>
      <p:sp>
        <p:nvSpPr>
          <p:cNvPr id="26" name="Card 5"/>
          <p:cNvSpPr/>
          <p:nvPr/>
        </p:nvSpPr>
        <p:spPr>
          <a:xfrm>
            <a:off x="8128000" y="3901808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7" name="Icon 5"/>
          <p:cNvSpPr/>
          <p:nvPr/>
        </p:nvSpPr>
        <p:spPr>
          <a:xfrm>
            <a:off x="8310880" y="4084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451F7A"/>
          </a:solidFill>
          <a:ln/>
        </p:spPr>
      </p:sp>
      <p:sp>
        <p:nvSpPr>
          <p:cNvPr id="28" name="Headline 5"/>
          <p:cNvSpPr/>
          <p:nvPr/>
        </p:nvSpPr>
        <p:spPr>
          <a:xfrm>
            <a:off x="8310880" y="4587608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Outlier Detection (IQR)</a:t>
            </a:r>
            <a:endParaRPr lang="en-US" sz="1250" dirty="0"/>
          </a:p>
        </p:txBody>
      </p:sp>
      <p:sp>
        <p:nvSpPr>
          <p:cNvPr id="29" name="Body 5"/>
          <p:cNvSpPr/>
          <p:nvPr/>
        </p:nvSpPr>
        <p:spPr>
          <a:xfrm>
            <a:off x="8310880" y="5044808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method (1.5×IQR) applied to every numeric column across all 6 tables. Result: outliers concentrated in ROI, Order Quantity, and high-value orders/customers — each investigated, not blindly removed (see next slide).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Issue Log — Anomalies &amp; Resolution Logic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Card 0"/>
          <p:cNvSpPr/>
          <p:nvPr/>
        </p:nvSpPr>
        <p:spPr>
          <a:xfrm>
            <a:off x="457200" y="1391920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7" name="Icon 0"/>
          <p:cNvSpPr/>
          <p:nvPr/>
        </p:nvSpPr>
        <p:spPr>
          <a:xfrm>
            <a:off x="640080" y="1574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82E4D"/>
          </a:solidFill>
          <a:ln/>
        </p:spPr>
      </p:sp>
      <p:sp>
        <p:nvSpPr>
          <p:cNvPr id="8" name="Headline 0"/>
          <p:cNvSpPr/>
          <p:nvPr/>
        </p:nvSpPr>
        <p:spPr>
          <a:xfrm>
            <a:off x="640080" y="2077720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Structural Null (Main_Product_ID)</a:t>
            </a:r>
            <a:endParaRPr lang="en-US" sz="1250" dirty="0"/>
          </a:p>
        </p:txBody>
      </p:sp>
      <p:sp>
        <p:nvSpPr>
          <p:cNvPr id="9" name="Body 0"/>
          <p:cNvSpPr/>
          <p:nvPr/>
        </p:nvSpPr>
        <p:spPr>
          <a:xfrm>
            <a:off x="640080" y="2534920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of 60 rows (60%) in Campaign Performance. Expected when a campaign promotes a Category/Collection, not one SKU. Included as-is; product rollups fall back to Campaign's Product_Category.</a:t>
            </a:r>
            <a:endParaRPr lang="en-US" sz="950" dirty="0"/>
          </a:p>
        </p:txBody>
      </p:sp>
      <p:sp>
        <p:nvSpPr>
          <p:cNvPr id="10" name="Card 1"/>
          <p:cNvSpPr/>
          <p:nvPr/>
        </p:nvSpPr>
        <p:spPr>
          <a:xfrm>
            <a:off x="4292600" y="1391920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1" name="Icon 1"/>
          <p:cNvSpPr/>
          <p:nvPr/>
        </p:nvSpPr>
        <p:spPr>
          <a:xfrm>
            <a:off x="4475480" y="1574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451F7A"/>
          </a:solidFill>
          <a:ln/>
        </p:spPr>
      </p:sp>
      <p:sp>
        <p:nvSpPr>
          <p:cNvPr id="12" name="Headline 1"/>
          <p:cNvSpPr/>
          <p:nvPr/>
        </p:nvSpPr>
        <p:spPr>
          <a:xfrm>
            <a:off x="4475480" y="2077720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Four Inactive Influencers</a:t>
            </a:r>
            <a:endParaRPr lang="en-US" sz="1250" dirty="0"/>
          </a:p>
        </p:txBody>
      </p:sp>
      <p:sp>
        <p:nvSpPr>
          <p:cNvPr id="13" name="Body 1"/>
          <p:cNvSpPr/>
          <p:nvPr/>
        </p:nvSpPr>
        <p:spPr>
          <a:xfrm>
            <a:off x="4475480" y="2534920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INF011, INF013, INF015, INF018 have zero tracked activity. Retained in the influencer master table for completeness, but excluded from ROI/performance leaderboards and flagged as “no campaigns run.”</a:t>
            </a:r>
            <a:endParaRPr lang="en-US" sz="950" dirty="0"/>
          </a:p>
        </p:txBody>
      </p:sp>
      <p:sp>
        <p:nvSpPr>
          <p:cNvPr id="14" name="Card 2"/>
          <p:cNvSpPr/>
          <p:nvPr/>
        </p:nvSpPr>
        <p:spPr>
          <a:xfrm>
            <a:off x="8128000" y="1391920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5" name="Icon 2"/>
          <p:cNvSpPr/>
          <p:nvPr/>
        </p:nvSpPr>
        <p:spPr>
          <a:xfrm>
            <a:off x="8310880" y="1574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D9B641"/>
          </a:solidFill>
          <a:ln/>
        </p:spPr>
      </p:sp>
      <p:sp>
        <p:nvSpPr>
          <p:cNvPr id="16" name="Headline 2"/>
          <p:cNvSpPr/>
          <p:nvPr/>
        </p:nvSpPr>
        <p:spPr>
          <a:xfrm>
            <a:off x="8310880" y="2077720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ROI Statistical Outliers</a:t>
            </a:r>
            <a:endParaRPr lang="en-US" sz="1250" dirty="0"/>
          </a:p>
        </p:txBody>
      </p:sp>
      <p:sp>
        <p:nvSpPr>
          <p:cNvPr id="17" name="Body 2"/>
          <p:cNvSpPr/>
          <p:nvPr/>
        </p:nvSpPr>
        <p:spPr>
          <a:xfrm>
            <a:off x="8310880" y="2534920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60 rows (20%) flagged by IQR. Traced to 8 Micro- and 4 Nano-tier influencers with the lowest cost base (₹900–₹3,000) — small denominators inflate ROI%. Included as valid; reported alongside absolute Revenue and Cost.</a:t>
            </a:r>
            <a:endParaRPr lang="en-US" sz="950" dirty="0"/>
          </a:p>
        </p:txBody>
      </p:sp>
      <p:sp>
        <p:nvSpPr>
          <p:cNvPr id="18" name="Card 3"/>
          <p:cNvSpPr/>
          <p:nvPr/>
        </p:nvSpPr>
        <p:spPr>
          <a:xfrm>
            <a:off x="457200" y="3901808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9" name="Icon 3"/>
          <p:cNvSpPr/>
          <p:nvPr/>
        </p:nvSpPr>
        <p:spPr>
          <a:xfrm>
            <a:off x="640080" y="4084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B464A"/>
          </a:solidFill>
          <a:ln/>
        </p:spPr>
      </p:sp>
      <p:sp>
        <p:nvSpPr>
          <p:cNvPr id="20" name="Headline 3"/>
          <p:cNvSpPr/>
          <p:nvPr/>
        </p:nvSpPr>
        <p:spPr>
          <a:xfrm>
            <a:off x="640080" y="4587608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Orders.Quantity IQR Outliers</a:t>
            </a:r>
            <a:endParaRPr lang="en-US" sz="1250" dirty="0"/>
          </a:p>
        </p:txBody>
      </p:sp>
      <p:sp>
        <p:nvSpPr>
          <p:cNvPr id="21" name="Body 3"/>
          <p:cNvSpPr/>
          <p:nvPr/>
        </p:nvSpPr>
        <p:spPr>
          <a:xfrm>
            <a:off x="640080" y="5044808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10,961 of 100,000 orders (11%) flagged. Quantity is nearly constant at 1 (mean 1.14), so IQR bounds collapse and flag any order of 2+ units. A method artifact, not a genuine anomaly — excluded from cleaning action, documented only.</a:t>
            </a:r>
            <a:endParaRPr lang="en-US" sz="950" dirty="0"/>
          </a:p>
        </p:txBody>
      </p:sp>
      <p:sp>
        <p:nvSpPr>
          <p:cNvPr id="22" name="Card 4"/>
          <p:cNvSpPr/>
          <p:nvPr/>
        </p:nvSpPr>
        <p:spPr>
          <a:xfrm>
            <a:off x="4292600" y="3901808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3" name="Icon 4"/>
          <p:cNvSpPr/>
          <p:nvPr/>
        </p:nvSpPr>
        <p:spPr>
          <a:xfrm>
            <a:off x="4475480" y="4084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82E4D"/>
          </a:solidFill>
          <a:ln/>
        </p:spPr>
      </p:sp>
      <p:sp>
        <p:nvSpPr>
          <p:cNvPr id="24" name="Headline 4"/>
          <p:cNvSpPr/>
          <p:nvPr/>
        </p:nvSpPr>
        <p:spPr>
          <a:xfrm>
            <a:off x="4475480" y="4587608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High-Value Order &amp; Customer Outliers</a:t>
            </a:r>
            <a:endParaRPr lang="en-US" sz="1250" dirty="0"/>
          </a:p>
        </p:txBody>
      </p:sp>
      <p:sp>
        <p:nvSpPr>
          <p:cNvPr id="25" name="Body 4"/>
          <p:cNvSpPr/>
          <p:nvPr/>
        </p:nvSpPr>
        <p:spPr>
          <a:xfrm>
            <a:off x="4475480" y="5044808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Discount_Amount, Total_Amount, Lifetime_Value, Avg_Order_Value — 2.5%–3.6% each. Reflect genuine high-value orders/customers, not errors. Total_Amount independently reconciles exactly (0 mismatches); included as real data.</a:t>
            </a:r>
            <a:endParaRPr lang="en-US" sz="950" dirty="0"/>
          </a:p>
        </p:txBody>
      </p:sp>
      <p:sp>
        <p:nvSpPr>
          <p:cNvPr id="26" name="Card 5"/>
          <p:cNvSpPr/>
          <p:nvPr/>
        </p:nvSpPr>
        <p:spPr>
          <a:xfrm>
            <a:off x="8128000" y="3901808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7" name="Icon 5"/>
          <p:cNvSpPr/>
          <p:nvPr/>
        </p:nvSpPr>
        <p:spPr>
          <a:xfrm>
            <a:off x="8310880" y="4084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451F7A"/>
          </a:solidFill>
          <a:ln/>
        </p:spPr>
      </p:sp>
      <p:sp>
        <p:nvSpPr>
          <p:cNvPr id="28" name="Headline 5"/>
          <p:cNvSpPr/>
          <p:nvPr/>
        </p:nvSpPr>
        <p:spPr>
          <a:xfrm>
            <a:off x="8310880" y="4587608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No Post-Level Engagement Data</a:t>
            </a:r>
            <a:endParaRPr lang="en-US" sz="1250" dirty="0"/>
          </a:p>
        </p:txBody>
      </p:sp>
      <p:sp>
        <p:nvSpPr>
          <p:cNvPr id="29" name="Body 5"/>
          <p:cNvSpPr/>
          <p:nvPr/>
        </p:nvSpPr>
        <p:spPr>
          <a:xfrm>
            <a:off x="8310880" y="5044808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Impressions, clicks, and likes were never collected at source, limiting direct “fake engagement” detection. Documented as a dataset limitation; approximated instead via the ROI/cost-efficiency outlier check (Item 3).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Data Analysis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pic>
        <p:nvPicPr>
          <p:cNvPr id="6" name="Image 0" descr="/home/claude/capstone/eda_media/word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7320"/>
            <a:ext cx="5349240" cy="4251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57150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 — influencer &amp; campaign performance metrics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080760" y="1417320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309360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↔ Conversions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464040" y="1472184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309360" y="1819656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Higher-investment campaigns drive more conversions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080760" y="2359152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09360" y="243230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↔ Revenue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464040" y="241401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E8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0.88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09360" y="276148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scales with revenue, but not proportionally with ROI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080760" y="3300984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09360" y="337413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Count ↔ Revenue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464040" y="3355848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9B6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0.78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309360" y="3703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audiences help — but explain less than cost efficiency does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080760" y="4242816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309360" y="43159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↔ Cost per Acquisition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464040" y="4297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51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−0.70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309360" y="46451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inverse link: costly acquisitions erode profitability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080760" y="5184648"/>
            <a:ext cx="5623560" cy="841248"/>
          </a:xfrm>
          <a:prstGeom prst="roundRect">
            <a:avLst>
              <a:gd name="adj" fmla="val 8696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309360" y="5257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Match ↔ ROI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464040" y="52395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0.20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309360" y="5586984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positive link — targeting alone doesn't guarantee efficiency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Influencer Tier Mix &amp; Revenue Relationship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pic>
        <p:nvPicPr>
          <p:cNvPr id="6" name="Image 0" descr="Distribution of Influencer Tiers bar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350" y="1371600"/>
            <a:ext cx="3876660" cy="27000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221600"/>
            <a:ext cx="5394960" cy="2007216"/>
          </a:xfrm>
          <a:prstGeom prst="roundRect">
            <a:avLst>
              <a:gd name="adj" fmla="val 6250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4221600"/>
            <a:ext cx="4937760" cy="2007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45% of influencers are Macro-tier.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and Nano influencers each account for 20%, and Mega influencers for the remaining 15%. The roster leans toward mid-sized creators who balance audience reach with campaign affordability, while all four tiers stay represented enough for a full performance comparison.</a:t>
            </a:r>
            <a:endParaRPr lang="en-US" sz="1100" dirty="0"/>
          </a:p>
        </p:txBody>
      </p:sp>
      <p:pic>
        <p:nvPicPr>
          <p:cNvPr id="9" name="Image 1" descr="Follower Count vs Average Campaign Revenue scatter 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415" y="1371600"/>
            <a:ext cx="5252850" cy="2700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4221600"/>
            <a:ext cx="5394960" cy="2007216"/>
          </a:xfrm>
          <a:prstGeom prst="roundRect">
            <a:avLst>
              <a:gd name="adj" fmla="val 6250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537960" y="4221600"/>
            <a:ext cx="4937760" cy="2007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rises with follower count.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influencers consistently generate the highest average campaign revenue, exceeding ₹10M. Macro influencers sit in the middle at roughly ₹3.3M–₹4.9M, while Micro and Nano influencers trail behind, reflecting their smaller audience reach.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Average Conversions by Influencer Tier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pic>
        <p:nvPicPr>
          <p:cNvPr id="6" name="Image 0" descr="Average Conversions by Influencer Tier bar 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4731"/>
            <a:ext cx="5394960" cy="313095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309360" y="1371600"/>
            <a:ext cx="5394960" cy="2353608"/>
          </a:xfrm>
          <a:prstGeom prst="roundRect">
            <a:avLst>
              <a:gd name="adj" fmla="val 6250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37960" y="1371600"/>
            <a:ext cx="4937760" cy="235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Conversions climb steadily with tier size.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conversions rise from 316 (Nano) and 613 (Micro) to 1,157 (Macro) and 3,285 (Mega). Larger audiences translate into more customers taking action, making broader-reach tiers the strongest driver of raw conversion volume.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309360" y="3875208"/>
            <a:ext cx="5394960" cy="2353608"/>
          </a:xfrm>
          <a:prstGeom prst="roundRect">
            <a:avLst>
              <a:gd name="adj" fmla="val 6250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37960" y="3875208"/>
            <a:ext cx="4937760" cy="2353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isn't the full story.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influencers generate the most conversions and revenue, but their higher campaign costs mean they don’t automatically deliver the best ROI — efficiency, not just reach, determines real business value.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Visualization &amp; Insights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pic>
        <p:nvPicPr>
          <p:cNvPr id="6" name="Image 0" descr="/home/claude/capstone/eda_media/word/media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394960" cy="3328416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" y="4773168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85800" y="4773168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 influencers post the highest median ROI (&gt;1,300%), while Mega influencers — despite the highest revenue — post the lowest ROI (&lt;100%).</a:t>
            </a:r>
            <a:endParaRPr lang="en-US" sz="1100" dirty="0"/>
          </a:p>
        </p:txBody>
      </p:sp>
      <p:pic>
        <p:nvPicPr>
          <p:cNvPr id="9" name="Image 1" descr="/home/claude/capstone/eda_media/word/media/image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371600"/>
            <a:ext cx="5394960" cy="332841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309360" y="4773168"/>
            <a:ext cx="5394960" cy="1170432"/>
          </a:xfrm>
          <a:prstGeom prst="roundRect">
            <a:avLst>
              <a:gd name="adj" fmla="val 6250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537960" y="4773168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leads at ~₹10.7M revenue per campaign; TikTok trails on volume (~₹3.9M) but is the most cost-efficient platform per rupee spent.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Business Insights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Card 0"/>
          <p:cNvSpPr/>
          <p:nvPr/>
        </p:nvSpPr>
        <p:spPr>
          <a:xfrm>
            <a:off x="457200" y="1391920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7" name="Icon 0"/>
          <p:cNvSpPr/>
          <p:nvPr/>
        </p:nvSpPr>
        <p:spPr>
          <a:xfrm>
            <a:off x="640080" y="1574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82E4D"/>
          </a:solidFill>
          <a:ln/>
        </p:spPr>
      </p:sp>
      <p:sp>
        <p:nvSpPr>
          <p:cNvPr id="8" name="Headline 0"/>
          <p:cNvSpPr/>
          <p:nvPr/>
        </p:nvSpPr>
        <p:spPr>
          <a:xfrm>
            <a:off x="640080" y="2077720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≠ Success</a:t>
            </a:r>
            <a:endParaRPr lang="en-US" sz="1250" dirty="0"/>
          </a:p>
        </p:txBody>
      </p:sp>
      <p:sp>
        <p:nvSpPr>
          <p:cNvPr id="9" name="Body 0"/>
          <p:cNvSpPr/>
          <p:nvPr/>
        </p:nvSpPr>
        <p:spPr>
          <a:xfrm>
            <a:off x="640080" y="2534920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spend usually meant higher revenue, but several moderate-budget campaigns matched top performers — execution and audience targeting matter as much as budget size.</a:t>
            </a:r>
            <a:endParaRPr lang="en-US" sz="950" dirty="0"/>
          </a:p>
        </p:txBody>
      </p:sp>
      <p:sp>
        <p:nvSpPr>
          <p:cNvPr id="10" name="Card 1"/>
          <p:cNvSpPr/>
          <p:nvPr/>
        </p:nvSpPr>
        <p:spPr>
          <a:xfrm>
            <a:off x="4292600" y="1391920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1" name="Icon 1"/>
          <p:cNvSpPr/>
          <p:nvPr/>
        </p:nvSpPr>
        <p:spPr>
          <a:xfrm>
            <a:off x="4475480" y="1574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451F7A"/>
          </a:solidFill>
          <a:ln/>
        </p:spPr>
      </p:sp>
      <p:sp>
        <p:nvSpPr>
          <p:cNvPr id="12" name="Headline 1"/>
          <p:cNvSpPr/>
          <p:nvPr/>
        </p:nvSpPr>
        <p:spPr>
          <a:xfrm>
            <a:off x="4475480" y="2077720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vs. Efficiency</a:t>
            </a:r>
            <a:endParaRPr lang="en-US" sz="1250" dirty="0"/>
          </a:p>
        </p:txBody>
      </p:sp>
      <p:sp>
        <p:nvSpPr>
          <p:cNvPr id="13" name="Body 1"/>
          <p:cNvSpPr/>
          <p:nvPr/>
        </p:nvSpPr>
        <p:spPr>
          <a:xfrm>
            <a:off x="4475480" y="2534920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Mega influencers post ₹10–12M average revenue and the most conversions; Nano influencers post the highest ROI. No single tier wins on every metric.</a:t>
            </a:r>
            <a:endParaRPr lang="en-US" sz="950" dirty="0"/>
          </a:p>
        </p:txBody>
      </p:sp>
      <p:sp>
        <p:nvSpPr>
          <p:cNvPr id="14" name="Card 2"/>
          <p:cNvSpPr/>
          <p:nvPr/>
        </p:nvSpPr>
        <p:spPr>
          <a:xfrm>
            <a:off x="8128000" y="1391920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5" name="Icon 2"/>
          <p:cNvSpPr/>
          <p:nvPr/>
        </p:nvSpPr>
        <p:spPr>
          <a:xfrm>
            <a:off x="8310880" y="15748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D9B641"/>
          </a:solidFill>
          <a:ln/>
        </p:spPr>
      </p:sp>
      <p:sp>
        <p:nvSpPr>
          <p:cNvPr id="16" name="Headline 2"/>
          <p:cNvSpPr/>
          <p:nvPr/>
        </p:nvSpPr>
        <p:spPr>
          <a:xfrm>
            <a:off x="8310880" y="2077720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Wins on Revenue</a:t>
            </a:r>
            <a:endParaRPr lang="en-US" sz="1250" dirty="0"/>
          </a:p>
        </p:txBody>
      </p:sp>
      <p:sp>
        <p:nvSpPr>
          <p:cNvPr id="17" name="Body 2"/>
          <p:cNvSpPr/>
          <p:nvPr/>
        </p:nvSpPr>
        <p:spPr>
          <a:xfrm>
            <a:off x="8310880" y="2534920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averages ₹10.7M per campaign vs. ₹7.5M on YouTube and ₹3.9M on TikTok — platform choice measurably shifts campaign outcomes.</a:t>
            </a:r>
            <a:endParaRPr lang="en-US" sz="950" dirty="0"/>
          </a:p>
        </p:txBody>
      </p:sp>
      <p:sp>
        <p:nvSpPr>
          <p:cNvPr id="18" name="Card 3"/>
          <p:cNvSpPr/>
          <p:nvPr/>
        </p:nvSpPr>
        <p:spPr>
          <a:xfrm>
            <a:off x="457200" y="3901808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9" name="Icon 3"/>
          <p:cNvSpPr/>
          <p:nvPr/>
        </p:nvSpPr>
        <p:spPr>
          <a:xfrm>
            <a:off x="640080" y="4084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1B464A"/>
          </a:solidFill>
          <a:ln/>
        </p:spPr>
      </p:sp>
      <p:sp>
        <p:nvSpPr>
          <p:cNvPr id="20" name="Headline 3"/>
          <p:cNvSpPr/>
          <p:nvPr/>
        </p:nvSpPr>
        <p:spPr>
          <a:xfrm>
            <a:off x="640080" y="4587608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Customer: 26–35, Medium-Income</a:t>
            </a:r>
            <a:endParaRPr lang="en-US" sz="1250" dirty="0"/>
          </a:p>
        </p:txBody>
      </p:sp>
      <p:sp>
        <p:nvSpPr>
          <p:cNvPr id="21" name="Body 3"/>
          <p:cNvSpPr/>
          <p:nvPr/>
        </p:nvSpPr>
        <p:spPr>
          <a:xfrm>
            <a:off x="640080" y="5044808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age band drives the largest share of revenue, and medium-income shoppers outspend both low- and high-income segments, while gender contribution stays evenly balanced.</a:t>
            </a:r>
            <a:endParaRPr lang="en-US" sz="950" dirty="0"/>
          </a:p>
        </p:txBody>
      </p:sp>
      <p:sp>
        <p:nvSpPr>
          <p:cNvPr id="22" name="Card 4"/>
          <p:cNvSpPr/>
          <p:nvPr/>
        </p:nvSpPr>
        <p:spPr>
          <a:xfrm>
            <a:off x="4292600" y="3901808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3" name="Icon 4"/>
          <p:cNvSpPr/>
          <p:nvPr/>
        </p:nvSpPr>
        <p:spPr>
          <a:xfrm>
            <a:off x="4475480" y="4084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E82E4D"/>
          </a:solidFill>
          <a:ln/>
        </p:spPr>
      </p:sp>
      <p:sp>
        <p:nvSpPr>
          <p:cNvPr id="24" name="Headline 4"/>
          <p:cNvSpPr/>
          <p:nvPr/>
        </p:nvSpPr>
        <p:spPr>
          <a:xfrm>
            <a:off x="4475480" y="4587608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Beyond the Sale</a:t>
            </a:r>
            <a:endParaRPr lang="en-US" sz="1250" dirty="0"/>
          </a:p>
        </p:txBody>
      </p:sp>
      <p:sp>
        <p:nvSpPr>
          <p:cNvPr id="25" name="Body 4"/>
          <p:cNvSpPr/>
          <p:nvPr/>
        </p:nvSpPr>
        <p:spPr>
          <a:xfrm>
            <a:off x="4475480" y="5044808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BudgetStylist, MinimalistMan, and TheStreetLook acquire customers with the highest lifetime value — proof that revenue alone misses long-term customer quality.</a:t>
            </a:r>
            <a:endParaRPr lang="en-US" sz="950" dirty="0"/>
          </a:p>
        </p:txBody>
      </p:sp>
      <p:sp>
        <p:nvSpPr>
          <p:cNvPr id="26" name="Card 5"/>
          <p:cNvSpPr/>
          <p:nvPr/>
        </p:nvSpPr>
        <p:spPr>
          <a:xfrm>
            <a:off x="8128000" y="3901808"/>
            <a:ext cx="3606800" cy="2327008"/>
          </a:xfrm>
          <a:prstGeom prst="roundRect">
            <a:avLst>
              <a:gd name="adj" fmla="val 5000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7" name="Icon 5"/>
          <p:cNvSpPr/>
          <p:nvPr/>
        </p:nvSpPr>
        <p:spPr>
          <a:xfrm>
            <a:off x="8310880" y="4084688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451F7A"/>
          </a:solidFill>
          <a:ln/>
        </p:spPr>
      </p:sp>
      <p:sp>
        <p:nvSpPr>
          <p:cNvPr id="28" name="Headline 5"/>
          <p:cNvSpPr/>
          <p:nvPr/>
        </p:nvSpPr>
        <p:spPr>
          <a:xfrm>
            <a:off x="8310880" y="4587608"/>
            <a:ext cx="324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Diversified Wardrobe</a:t>
            </a:r>
            <a:endParaRPr lang="en-US" sz="1250" dirty="0"/>
          </a:p>
        </p:txBody>
      </p:sp>
      <p:sp>
        <p:nvSpPr>
          <p:cNvPr id="29" name="Body 5"/>
          <p:cNvSpPr/>
          <p:nvPr/>
        </p:nvSpPr>
        <p:spPr>
          <a:xfrm>
            <a:off x="8310880" y="5044808"/>
            <a:ext cx="3241040" cy="1001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Luxury edges out other styles only slightly; demand spreads broadly across Streetwear, Boho, Casual, Athleisure, and Formal — no single style dominates.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2E6490-65AD-99D4-ADBB-A04AB7142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288"/>
            <a:ext cx="12192000" cy="6567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1271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Learnings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73152" cy="2103120"/>
          </a:xfrm>
          <a:prstGeom prst="rect">
            <a:avLst/>
          </a:prstGeom>
          <a:solidFill>
            <a:srgbClr val="E82E4D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673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Engagement-Level Data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20756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Impressions, clicks, and likes weren't in the source data, limiting true “fake engagement” detection.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880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 </a:t>
            </a: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Approximated with ROI / cost-efficiency outlier analysis instead.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508760"/>
            <a:ext cx="73152" cy="2103120"/>
          </a:xfrm>
          <a:prstGeom prst="rect">
            <a:avLst/>
          </a:prstGeom>
          <a:solidFill>
            <a:srgbClr val="451F7A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1673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Outlier Interpretation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46520" y="20756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of 60 performance rows (20%) flagged as ROI outliers by the IQR method.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46520" y="2880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451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 </a:t>
            </a: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 genuinely low-cost Nano/Micro influencers — retained as valid, not removed.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794760"/>
            <a:ext cx="73152" cy="2103120"/>
          </a:xfrm>
          <a:prstGeom prst="rect">
            <a:avLst/>
          </a:prstGeom>
          <a:solidFill>
            <a:srgbClr val="D9B641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59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≠ Causation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3616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correlations (e.g. Cost ↔ Conversions, r=0.94) don't prove incremental lift.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3152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D9B6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 </a:t>
            </a: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explicitly; recommended holdout/matched-comparison testing for next cycle.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3794760"/>
            <a:ext cx="5532120" cy="2103120"/>
          </a:xfrm>
          <a:prstGeom prst="roundRect">
            <a:avLst>
              <a:gd name="adj" fmla="val 3478"/>
            </a:avLst>
          </a:prstGeom>
          <a:solidFill>
            <a:srgbClr val="E8F3F4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72200" y="3794760"/>
            <a:ext cx="73152" cy="2103120"/>
          </a:xfrm>
          <a:prstGeom prst="rect">
            <a:avLst/>
          </a:prstGeom>
          <a:solidFill>
            <a:srgbClr val="1B464A"/>
          </a:solidFill>
          <a:ln/>
        </p:spPr>
      </p:sp>
      <p:sp>
        <p:nvSpPr>
          <p:cNvPr id="23" name="Text 21"/>
          <p:cNvSpPr/>
          <p:nvPr/>
        </p:nvSpPr>
        <p:spPr>
          <a:xfrm>
            <a:off x="6446520" y="39593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Data Handling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46520" y="4361688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orders and 90,000 customer records required efficient joins and validation.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5166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 </a:t>
            </a:r>
            <a:r>
              <a:rPr lang="en-US" sz="10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Pandas operations and systematic key-integrity checks throughout.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6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Demo &amp; Repository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artifacts backing this presentation: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E9E4F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217627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451F7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0574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Data_Quality_Assessment.ipynb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1463040" y="245059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notebook — missing values, duplicates, referential integrity, outlier detection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CE0E5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341071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2E4D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29184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EDA.ipynb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463040" y="368503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notebook — statistical summaries, correlation analysis, KPI engineering, 10+ visualizations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389120"/>
            <a:ext cx="11247120" cy="1051560"/>
          </a:xfrm>
          <a:prstGeom prst="roundRect">
            <a:avLst>
              <a:gd name="adj" fmla="val 6957"/>
            </a:avLst>
          </a:prstGeom>
          <a:solidFill>
            <a:srgbClr val="FBF5E0"/>
          </a:solidFill>
          <a:ln w="12700">
            <a:solidFill>
              <a:srgbClr val="E4E7EC"/>
            </a:solidFill>
            <a:prstDash val="solid"/>
          </a:ln>
          <a:effectLst>
            <a:outerShdw blurRad="76200" dist="25400" dir="5400000" algn="bl" rotWithShape="0">
              <a:srgbClr val="1B46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46451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D9B64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645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&lt;/&gt;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5262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4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1463040" y="491947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A3F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executive dashboard — KPI cards, platform/tier/campaign comparisons, live filters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566928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flow: open notebooks to walk through cleaning → EDA → launch Streamlit dashboard live → filter by platform/tier to show KPI cards update in real time.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6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023360" cy="4023360"/>
          </a:xfrm>
          <a:prstGeom prst="ellipse">
            <a:avLst/>
          </a:prstGeom>
          <a:solidFill>
            <a:srgbClr val="13373A"/>
          </a:solidFill>
          <a:ln/>
        </p:spPr>
      </p:sp>
      <p:sp>
        <p:nvSpPr>
          <p:cNvPr id="3" name="Shape 1"/>
          <p:cNvSpPr/>
          <p:nvPr/>
        </p:nvSpPr>
        <p:spPr>
          <a:xfrm>
            <a:off x="-640080" y="-822960"/>
            <a:ext cx="1828800" cy="1828800"/>
          </a:xfrm>
          <a:prstGeom prst="ellipse">
            <a:avLst/>
          </a:prstGeom>
          <a:solidFill>
            <a:srgbClr val="451F7A"/>
          </a:solidFill>
          <a:ln/>
        </p:spPr>
      </p:sp>
      <p:sp>
        <p:nvSpPr>
          <p:cNvPr id="4" name="Shape 2"/>
          <p:cNvSpPr/>
          <p:nvPr/>
        </p:nvSpPr>
        <p:spPr>
          <a:xfrm>
            <a:off x="10789920" y="5120640"/>
            <a:ext cx="2926080" cy="2926080"/>
          </a:xfrm>
          <a:prstGeom prst="ellipse">
            <a:avLst/>
          </a:prstGeom>
          <a:solidFill>
            <a:srgbClr val="13373A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0" y="5760720"/>
            <a:ext cx="1280160" cy="1280160"/>
          </a:xfrm>
          <a:prstGeom prst="ellipse">
            <a:avLst/>
          </a:prstGeom>
          <a:solidFill>
            <a:srgbClr val="D9B641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320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11155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9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marketing should be managed as a strategic investment, not a promotional line item. Campaign success depends on the combined influence of influencer selection, platform, customer fit, and marketing efficiency — not budget size alone. A data-driven, portfolio-based approach lets the organization scale confidently while protecting profitability.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2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3355848"/>
            <a:ext cx="164592" cy="164592"/>
          </a:xfrm>
          <a:prstGeom prst="ellipse">
            <a:avLst/>
          </a:prstGeom>
          <a:solidFill>
            <a:srgbClr val="E82E4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236976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post-level impressions, clicks &amp; engagement to enable true engagement-quality analysis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164592" cy="164592"/>
          </a:xfrm>
          <a:prstGeom prst="ellipse">
            <a:avLst/>
          </a:prstGeom>
          <a:solidFill>
            <a:srgbClr val="451F7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767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holdout / matched-comparison groups to measure incremental lift, not just attribution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416552"/>
            <a:ext cx="164592" cy="164592"/>
          </a:xfrm>
          <a:prstGeom prst="ellipse">
            <a:avLst/>
          </a:prstGeom>
          <a:solidFill>
            <a:srgbClr val="D9B64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4297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Nano/Micro influencer pilots only once defined revenue &amp; efficiency thresholds are cleared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946904"/>
            <a:ext cx="164592" cy="164592"/>
          </a:xfrm>
          <a:prstGeom prst="ellipse">
            <a:avLst/>
          </a:prstGeom>
          <a:solidFill>
            <a:srgbClr val="E82E4D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48280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4-metric scorecard (revenue, profit, conversions, cost/conversion) each campaign cycle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544068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13373A"/>
          </a:solidFill>
          <a:ln w="12700">
            <a:solidFill>
              <a:srgbClr val="E82E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504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12,035%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Portfolio ROI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0" y="544068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13373A"/>
          </a:solidFill>
          <a:ln w="12700">
            <a:solidFill>
              <a:srgbClr val="451F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97680" y="5504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51F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29768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 Analyzed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772400" y="5440680"/>
            <a:ext cx="3474720" cy="777240"/>
          </a:xfrm>
          <a:prstGeom prst="roundRect">
            <a:avLst>
              <a:gd name="adj" fmla="val 9412"/>
            </a:avLst>
          </a:prstGeom>
          <a:solidFill>
            <a:srgbClr val="13373A"/>
          </a:solidFill>
          <a:ln w="12700">
            <a:solidFill>
              <a:srgbClr val="D9B64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550468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B6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90,000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95528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9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Profiled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E82E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 —  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2262</Words>
  <Application>Microsoft Office PowerPoint</Application>
  <PresentationFormat>Widescreen</PresentationFormat>
  <Paragraphs>292</Paragraphs>
  <Slides>19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Sarnalika Das</cp:lastModifiedBy>
  <cp:revision>3</cp:revision>
  <dcterms:created xsi:type="dcterms:W3CDTF">2026-08-09T17:10:12Z</dcterms:created>
  <dcterms:modified xsi:type="dcterms:W3CDTF">2026-08-10T09:09:44Z</dcterms:modified>
</cp:coreProperties>
</file>